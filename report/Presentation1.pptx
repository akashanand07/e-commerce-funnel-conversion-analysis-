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7" r:id="rId2"/>
    <p:sldId id="262" r:id="rId3"/>
    <p:sldId id="263" r:id="rId4"/>
    <p:sldId id="264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3ECA5F-CFB1-6CE7-BC3F-769CBC167A26}" v="1859" dt="2026-03-18T11:18:18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704F7AEE-CDE0-401E-9833-3827040BFAC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8D83D17-1E6C-4A3D-A085-02142F0B2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2469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7AEE-CDE0-401E-9833-3827040BFAC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83D17-1E6C-4A3D-A085-02142F0B2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420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04F7AEE-CDE0-401E-9833-3827040BFAC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A8D83D17-1E6C-4A3D-A085-02142F0B2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5884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7AEE-CDE0-401E-9833-3827040BFAC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83D17-1E6C-4A3D-A085-02142F0B2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288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7AEE-CDE0-401E-9833-3827040BFAC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83D17-1E6C-4A3D-A085-02142F0B2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748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7AEE-CDE0-401E-9833-3827040BFAC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83D17-1E6C-4A3D-A085-02142F0B2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123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7AEE-CDE0-401E-9833-3827040BFAC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83D17-1E6C-4A3D-A085-02142F0B2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058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7AEE-CDE0-401E-9833-3827040BFAC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8D83D17-1E6C-4A3D-A085-02142F0B2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7004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704F7AEE-CDE0-401E-9833-3827040BFAC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8D83D17-1E6C-4A3D-A085-02142F0B2B2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16185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7AEE-CDE0-401E-9833-3827040BFAC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83D17-1E6C-4A3D-A085-02142F0B2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036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F7AEE-CDE0-401E-9833-3827040BFAC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83D17-1E6C-4A3D-A085-02142F0B2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877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04F7AEE-CDE0-401E-9833-3827040BFACA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8D83D17-1E6C-4A3D-A085-02142F0B2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440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F4F263-F1D8-D366-6C15-AFD66EF57D90}"/>
              </a:ext>
            </a:extLst>
          </p:cNvPr>
          <p:cNvSpPr txBox="1"/>
          <p:nvPr/>
        </p:nvSpPr>
        <p:spPr>
          <a:xfrm>
            <a:off x="506896" y="367749"/>
            <a:ext cx="11380304" cy="60939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3600" b="1" dirty="0"/>
              <a:t>E-commerce Funnel Analysis (2.7M+ User Events)</a:t>
            </a:r>
          </a:p>
          <a:p>
            <a:r>
              <a:rPr lang="en-IN" dirty="0"/>
              <a:t> </a:t>
            </a:r>
            <a:r>
              <a:rPr lang="en-IN" sz="2400" b="1"/>
              <a:t>Q1. How do users move across the funnel?                      </a:t>
            </a:r>
            <a:r>
              <a:rPr lang="en-IN" sz="2400" b="1" dirty="0">
                <a:solidFill>
                  <a:srgbClr val="000000"/>
                </a:solidFill>
                <a:latin typeface="Century Gothic"/>
              </a:rPr>
              <a:t>             </a:t>
            </a:r>
            <a:r>
              <a:rPr lang="en-IN" sz="1600" b="1">
                <a:solidFill>
                  <a:srgbClr val="FF0000"/>
                </a:solidFill>
                <a:latin typeface="Book Antiqua"/>
              </a:rPr>
              <a:t>By Akash Anand</a:t>
            </a:r>
          </a:p>
          <a:p>
            <a:r>
              <a:rPr lang="en-IN" sz="2000" b="1" dirty="0"/>
              <a:t> </a:t>
            </a:r>
            <a:r>
              <a:rPr lang="en-IN" sz="2400" b="1">
                <a:latin typeface="Bookman Old Style"/>
              </a:rPr>
              <a:t>Data:</a:t>
            </a:r>
            <a:endParaRPr lang="en-IN" sz="2400" dirty="0">
              <a:latin typeface="Bookman Old Style"/>
            </a:endParaRPr>
          </a:p>
          <a:p>
            <a:r>
              <a:rPr lang="en-IN" dirty="0">
                <a:latin typeface="Bookman Old Style"/>
              </a:rPr>
              <a:t>Views → 1,404,179 </a:t>
            </a:r>
          </a:p>
          <a:p>
            <a:r>
              <a:rPr lang="en-IN">
                <a:latin typeface="Bookman Old Style"/>
              </a:rPr>
              <a:t>Add</a:t>
            </a:r>
            <a:r>
              <a:rPr lang="en-IN" dirty="0">
                <a:latin typeface="Bookman Old Style"/>
              </a:rPr>
              <a:t> to Cart → 37,722</a:t>
            </a:r>
          </a:p>
          <a:p>
            <a:r>
              <a:rPr lang="en-IN">
                <a:latin typeface="Bookman Old Style"/>
              </a:rPr>
              <a:t>Purchases → 11,719 </a:t>
            </a:r>
          </a:p>
          <a:p>
            <a:r>
              <a:rPr lang="en-IN" sz="2400" b="1">
                <a:latin typeface="Bookman Old Style"/>
              </a:rPr>
              <a:t>Analysis</a:t>
            </a:r>
            <a:r>
              <a:rPr lang="en-IN" sz="2400" b="1"/>
              <a:t>:</a:t>
            </a:r>
          </a:p>
          <a:p>
            <a:r>
              <a:rPr lang="en-IN">
                <a:latin typeface="Bookman Old Style"/>
              </a:rPr>
              <a:t>View → Cart conversion = 2.69%</a:t>
            </a:r>
          </a:p>
          <a:p>
            <a:r>
              <a:rPr lang="en-IN">
                <a:latin typeface="Bookman Old Style"/>
              </a:rPr>
              <a:t>Cart → Purchase conversion = 31.07%</a:t>
            </a:r>
          </a:p>
          <a:p>
            <a:r>
              <a:rPr lang="en-IN" dirty="0"/>
              <a:t> </a:t>
            </a:r>
            <a:r>
              <a:rPr lang="en-IN" sz="2400" b="1">
                <a:latin typeface="Bookman Old Style"/>
              </a:rPr>
              <a:t>Insight</a:t>
            </a:r>
            <a:r>
              <a:rPr lang="en-IN" sz="2400" b="1"/>
              <a:t>:</a:t>
            </a:r>
            <a:r>
              <a:rPr lang="en-IN" sz="2000" b="1"/>
              <a:t> </a:t>
            </a:r>
          </a:p>
          <a:p>
            <a:r>
              <a:rPr lang="en-IN" dirty="0">
                <a:latin typeface="Bookman Old Style"/>
              </a:rPr>
              <a:t>There is a massive drop-off at the View → Cart stage, where over 97% of users leave without taking action.</a:t>
            </a:r>
          </a:p>
          <a:p>
            <a:r>
              <a:rPr lang="en-IN" sz="2400" b="1">
                <a:latin typeface="Bookman Old Style"/>
              </a:rPr>
              <a:t>Business Recommendation: </a:t>
            </a:r>
            <a:endParaRPr lang="en-IN" dirty="0">
              <a:latin typeface="Bookman Old Style"/>
            </a:endParaRPr>
          </a:p>
          <a:p>
            <a:r>
              <a:rPr lang="en-IN" dirty="0">
                <a:latin typeface="Bookman Old Style"/>
              </a:rPr>
              <a:t>1)Optimize</a:t>
            </a:r>
            <a:r>
              <a:rPr lang="en-IN">
                <a:latin typeface="Bookman Old Style"/>
              </a:rPr>
              <a:t> product pages (images, descriptions, UI)</a:t>
            </a:r>
            <a:endParaRPr lang="en-IN" dirty="0">
              <a:latin typeface="Bookman Old Style"/>
            </a:endParaRPr>
          </a:p>
          <a:p>
            <a:r>
              <a:rPr lang="en-IN">
                <a:latin typeface="Bookman Old Style"/>
              </a:rPr>
              <a:t>2)Add reviews and ratings to build trust</a:t>
            </a:r>
            <a:endParaRPr lang="en-IN" dirty="0">
              <a:latin typeface="Bookman Old Style"/>
            </a:endParaRPr>
          </a:p>
          <a:p>
            <a:r>
              <a:rPr lang="en-IN">
                <a:latin typeface="Bookman Old Style"/>
              </a:rPr>
              <a:t>3)Improve visibility of “Add to Cart” CTA </a:t>
            </a:r>
            <a:endParaRPr lang="en-IN" dirty="0">
              <a:latin typeface="Bookman Old Style"/>
            </a:endParaRPr>
          </a:p>
          <a:p>
            <a:r>
              <a:rPr lang="en-IN">
                <a:latin typeface="Bookman Old Style"/>
              </a:rPr>
              <a:t>4)Introduce</a:t>
            </a:r>
            <a:r>
              <a:rPr lang="en-IN" dirty="0">
                <a:latin typeface="Bookman Old Style"/>
              </a:rPr>
              <a:t> pricing strategies (discounts, offers)</a:t>
            </a:r>
          </a:p>
          <a:p>
            <a:r>
              <a:rPr lang="en-IN" dirty="0">
                <a:solidFill>
                  <a:srgbClr val="FF0000"/>
                </a:solidFill>
                <a:latin typeface="Book Antiqua"/>
                <a:ea typeface="+mn-lt"/>
                <a:cs typeface="+mn-lt"/>
              </a:rPr>
              <a:t>The major drop-off occurs at the product interaction stage, not during checkout, indicating that the issue lies in user engagement rather than purchase friction.</a:t>
            </a:r>
            <a:endParaRPr lang="en-IN" dirty="0">
              <a:solidFill>
                <a:srgbClr val="FF0000"/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1789461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C40D36-655D-4A1F-B8D1-05CAA6391836}"/>
              </a:ext>
            </a:extLst>
          </p:cNvPr>
          <p:cNvSpPr txBox="1"/>
          <p:nvPr/>
        </p:nvSpPr>
        <p:spPr>
          <a:xfrm>
            <a:off x="248808" y="259818"/>
            <a:ext cx="11751497" cy="66479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 </a:t>
            </a:r>
            <a:r>
              <a:rPr lang="en-US" sz="2000" b="1" dirty="0">
                <a:latin typeface="Bookman Old Style"/>
                <a:ea typeface="+mn-lt"/>
                <a:cs typeface="+mn-lt"/>
              </a:rPr>
              <a:t>What are the conversion rates and what do they indicate about the funnel performance.</a:t>
            </a:r>
          </a:p>
          <a:p>
            <a:r>
              <a:rPr lang="en-US">
                <a:latin typeface="Bookman Old Style"/>
                <a:ea typeface="+mn-lt"/>
                <a:cs typeface="+mn-lt"/>
              </a:rPr>
              <a:t>Cart Conversion Rate = 2.69%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Purchase Conversion Rate = 31.07%</a:t>
            </a:r>
            <a:endParaRPr lang="en-US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Out of 1000 users → only 8 </a:t>
            </a:r>
            <a:r>
              <a:rPr lang="en-US" dirty="0" err="1">
                <a:latin typeface="Bookman Old Style"/>
                <a:ea typeface="+mn-lt"/>
                <a:cs typeface="+mn-lt"/>
              </a:rPr>
              <a:t>users</a:t>
            </a:r>
            <a:r>
              <a:rPr lang="en-US" dirty="0">
                <a:latin typeface="Bookman Old Style"/>
                <a:ea typeface="+mn-lt"/>
                <a:cs typeface="+mn-lt"/>
              </a:rPr>
              <a:t> purchase</a:t>
            </a:r>
            <a:endParaRPr lang="en-US">
              <a:latin typeface="Bookman Old Style"/>
            </a:endParaRPr>
          </a:p>
          <a:p>
            <a:r>
              <a:rPr lang="en-US" dirty="0">
                <a:ea typeface="+mn-lt"/>
                <a:cs typeface="+mn-lt"/>
              </a:rPr>
              <a:t> </a:t>
            </a:r>
            <a:r>
              <a:rPr lang="en-US" sz="2000" b="1">
                <a:latin typeface="Bookman Old Style"/>
                <a:ea typeface="+mn-lt"/>
                <a:cs typeface="+mn-lt"/>
              </a:rPr>
              <a:t>Analysis:</a:t>
            </a:r>
            <a:endParaRPr lang="en-US" sz="2000" b="1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1)97% users drop before reaching cart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2)Only a small fraction enters the intent stage</a:t>
            </a:r>
            <a:endParaRPr lang="en-US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However, nearly 1 in 3 cart users converts to purchase</a:t>
            </a:r>
            <a:endParaRPr lang="en-US" dirty="0">
              <a:latin typeface="Bookman Old Style"/>
            </a:endParaRPr>
          </a:p>
          <a:p>
            <a:r>
              <a:rPr lang="en-US" sz="2000" b="1">
                <a:latin typeface="Bookman Old Style"/>
                <a:ea typeface="+mn-lt"/>
                <a:cs typeface="+mn-lt"/>
              </a:rPr>
              <a:t>Key Insight:</a:t>
            </a:r>
            <a:endParaRPr lang="en-US" sz="2000" b="1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The funnel is highly inefficient at the top but strong at the bottom This indicates:</a:t>
            </a:r>
            <a:endParaRPr lang="en-US" dirty="0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Users are interested but not convinced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Once convinced → they convert effectively</a:t>
            </a:r>
            <a:endParaRPr lang="en-US">
              <a:latin typeface="Bookman Old Style"/>
            </a:endParaRPr>
          </a:p>
          <a:p>
            <a:r>
              <a:rPr lang="en-US" sz="2000" b="1">
                <a:latin typeface="Bookman Old Style"/>
                <a:ea typeface="+mn-lt"/>
                <a:cs typeface="+mn-lt"/>
              </a:rPr>
              <a:t>Business Interpretation:</a:t>
            </a:r>
            <a:endParaRPr lang="en-US" sz="2000" b="1">
              <a:latin typeface="Bookman Old Style"/>
            </a:endParaRPr>
          </a:p>
          <a:p>
            <a:r>
              <a:rPr lang="en-US">
                <a:ea typeface="+mn-lt"/>
                <a:cs typeface="+mn-lt"/>
              </a:rPr>
              <a:t>T</a:t>
            </a:r>
            <a:r>
              <a:rPr lang="en-US">
                <a:latin typeface="Bookman Old Style"/>
                <a:ea typeface="+mn-lt"/>
                <a:cs typeface="+mn-lt"/>
              </a:rPr>
              <a:t>he core issue is NOT: 1)Checkout 2)Payment process</a:t>
            </a:r>
            <a:endParaRPr lang="en-US">
              <a:latin typeface="Bookman Old Style"/>
            </a:endParaRPr>
          </a:p>
          <a:p>
            <a:r>
              <a:rPr lang="en-US" b="1">
                <a:solidFill>
                  <a:srgbClr val="FF0000"/>
                </a:solidFill>
                <a:ea typeface="+mn-lt"/>
                <a:cs typeface="+mn-lt"/>
              </a:rPr>
              <a:t>The real problem is: Low product engagement and weak decision triggers.</a:t>
            </a:r>
          </a:p>
          <a:p>
            <a:r>
              <a:rPr lang="en-US" sz="2000" b="1">
                <a:latin typeface="Bookman Old Style"/>
                <a:ea typeface="+mn-lt"/>
                <a:cs typeface="+mn-lt"/>
              </a:rPr>
              <a:t>Business Action:</a:t>
            </a:r>
            <a:endParaRPr lang="en-US" sz="2000" b="1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Improve product page quality (images, descriptions)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Add reviews, ratings, and trust badges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Highlight urgency (limited stock, discounts)</a:t>
            </a:r>
            <a:endParaRPr lang="en-US">
              <a:latin typeface="Bookman Old Style"/>
            </a:endParaRPr>
          </a:p>
          <a:p>
            <a:r>
              <a:rPr lang="en-US" b="1" dirty="0">
                <a:solidFill>
                  <a:srgbClr val="FF0000"/>
                </a:solidFill>
                <a:latin typeface="Book Antiqua"/>
                <a:ea typeface="+mn-lt"/>
                <a:cs typeface="+mn-lt"/>
              </a:rPr>
              <a:t>With only 2.69% of users reaching the cart but 31.07% converting after </a:t>
            </a:r>
            <a:r>
              <a:rPr lang="en-US" b="1" dirty="0" err="1">
                <a:solidFill>
                  <a:srgbClr val="FF0000"/>
                </a:solidFill>
                <a:latin typeface="Book Antiqua"/>
                <a:ea typeface="+mn-lt"/>
                <a:cs typeface="+mn-lt"/>
              </a:rPr>
              <a:t>that,the</a:t>
            </a:r>
            <a:r>
              <a:rPr lang="en-US" b="1" dirty="0">
                <a:solidFill>
                  <a:srgbClr val="FF0000"/>
                </a:solidFill>
                <a:latin typeface="Book Antiqua"/>
                <a:ea typeface="+mn-lt"/>
                <a:cs typeface="+mn-lt"/>
              </a:rPr>
              <a:t> primary bottleneck lies in converting user interest into intent rather than completing the purchase.</a:t>
            </a:r>
            <a:endParaRPr lang="en-US" b="1" dirty="0">
              <a:solidFill>
                <a:srgbClr val="FF0000"/>
              </a:solidFill>
              <a:latin typeface="Book Antiqua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015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531527-49EA-3798-209F-CA4D7CC6C149}"/>
              </a:ext>
            </a:extLst>
          </p:cNvPr>
          <p:cNvSpPr txBox="1"/>
          <p:nvPr/>
        </p:nvSpPr>
        <p:spPr>
          <a:xfrm>
            <a:off x="262666" y="318813"/>
            <a:ext cx="11553170" cy="51090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Bookman Old Style"/>
                <a:ea typeface="+mn-lt"/>
                <a:cs typeface="+mn-lt"/>
              </a:rPr>
              <a:t>How much time do users take to add items to cart and what does it reveal?</a:t>
            </a: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Fast users → </a:t>
            </a:r>
            <a:r>
              <a:rPr lang="en-US" b="1">
                <a:latin typeface="Bookman Old Style"/>
                <a:ea typeface="+mn-lt"/>
                <a:cs typeface="+mn-lt"/>
              </a:rPr>
              <a:t>43K – 217K</a:t>
            </a:r>
            <a:endParaRPr lang="en-US" b="1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Delayed users → </a:t>
            </a:r>
            <a:r>
              <a:rPr lang="en-US" b="1">
                <a:latin typeface="Bookman Old Style"/>
                <a:ea typeface="+mn-lt"/>
                <a:cs typeface="+mn-lt"/>
              </a:rPr>
              <a:t>up to 275M+</a:t>
            </a:r>
            <a:endParaRPr lang="en-US" b="1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Negative values →</a:t>
            </a:r>
            <a:r>
              <a:rPr lang="en-US" b="1">
                <a:latin typeface="Bookman Old Style"/>
                <a:ea typeface="+mn-lt"/>
                <a:cs typeface="+mn-lt"/>
              </a:rPr>
              <a:t> 2.1M to -2.7M</a:t>
            </a:r>
            <a:endParaRPr lang="en-US" b="1">
              <a:latin typeface="Bookman Old Style"/>
            </a:endParaRPr>
          </a:p>
          <a:p>
            <a:r>
              <a:rPr lang="en-US" b="1">
                <a:latin typeface="Bookman Old Style"/>
                <a:ea typeface="+mn-lt"/>
                <a:cs typeface="+mn-lt"/>
              </a:rPr>
              <a:t>Insight:</a:t>
            </a:r>
            <a:endParaRPr lang="en-US" b="1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Huge variation in </a:t>
            </a:r>
            <a:r>
              <a:rPr lang="en-US">
                <a:latin typeface="Bookman Old Style"/>
                <a:ea typeface="+mn-lt"/>
                <a:cs typeface="+mn-lt"/>
              </a:rPr>
              <a:t>time to</a:t>
            </a:r>
            <a:r>
              <a:rPr lang="en-US" dirty="0">
                <a:latin typeface="Bookman Old Style"/>
                <a:ea typeface="+mn-lt"/>
                <a:cs typeface="+mn-lt"/>
              </a:rPr>
              <a:t> cart shows users are not behaving uniformly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Clear segments: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Fast converters → instant intent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Delayed converters → need time / multiple interactions</a:t>
            </a:r>
            <a:endParaRPr lang="en-US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Negative values </a:t>
            </a:r>
            <a:r>
              <a:rPr lang="en-US" dirty="0" err="1">
                <a:latin typeface="Bookman Old Style"/>
                <a:ea typeface="+mn-lt"/>
                <a:cs typeface="+mn-lt"/>
              </a:rPr>
              <a:t>indicate :</a:t>
            </a:r>
            <a:r>
              <a:rPr lang="en-US" dirty="0">
                <a:latin typeface="Bookman Old Style"/>
                <a:ea typeface="+mn-lt"/>
                <a:cs typeface="+mn-lt"/>
              </a:rPr>
              <a:t> event tracking inconsistency</a:t>
            </a:r>
            <a:endParaRPr lang="en-US" dirty="0">
              <a:latin typeface="Bookman Old Style"/>
            </a:endParaRPr>
          </a:p>
          <a:p>
            <a:r>
              <a:rPr lang="en-US" b="1">
                <a:latin typeface="Bookman Old Style"/>
                <a:ea typeface="+mn-lt"/>
                <a:cs typeface="+mn-lt"/>
              </a:rPr>
              <a:t> Business Takeaway:</a:t>
            </a:r>
            <a:endParaRPr lang="en-US" b="1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Conversion depends on when users </a:t>
            </a:r>
            <a:r>
              <a:rPr lang="en-US">
                <a:latin typeface="Bookman Old Style"/>
                <a:ea typeface="+mn-lt"/>
                <a:cs typeface="+mn-lt"/>
              </a:rPr>
              <a:t>act, not</a:t>
            </a:r>
            <a:r>
              <a:rPr lang="en-US" dirty="0">
                <a:latin typeface="Bookman Old Style"/>
                <a:ea typeface="+mn-lt"/>
                <a:cs typeface="+mn-lt"/>
              </a:rPr>
              <a:t> just where they drop</a:t>
            </a:r>
            <a:endParaRPr lang="en-US" dirty="0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Use retargeting for delayed users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Fix tracking system for reliable analysis</a:t>
            </a:r>
            <a:endParaRPr lang="en-US">
              <a:latin typeface="Bookman Old Style"/>
            </a:endParaRP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  <a:latin typeface="Book Antiqua"/>
                <a:ea typeface="+mn-lt"/>
                <a:cs typeface="+mn-lt"/>
              </a:rPr>
              <a:t>Wide variation in time-to-cart indicates both impulse and delayed buying </a:t>
            </a:r>
            <a:r>
              <a:rPr lang="en-US" b="1" dirty="0" err="1">
                <a:solidFill>
                  <a:srgbClr val="FF0000"/>
                </a:solidFill>
                <a:latin typeface="Book Antiqua"/>
                <a:ea typeface="+mn-lt"/>
                <a:cs typeface="+mn-lt"/>
              </a:rPr>
              <a:t>behavior,while</a:t>
            </a:r>
            <a:r>
              <a:rPr lang="en-US" b="1" dirty="0">
                <a:solidFill>
                  <a:srgbClr val="FF0000"/>
                </a:solidFill>
                <a:latin typeface="Book Antiqua"/>
                <a:ea typeface="+mn-lt"/>
                <a:cs typeface="+mn-lt"/>
              </a:rPr>
              <a:t> negative values highlight tracking issues affecting data reliability.</a:t>
            </a:r>
            <a:endParaRPr lang="en-US" b="1" dirty="0">
              <a:solidFill>
                <a:srgbClr val="FF0000"/>
              </a:solidFill>
              <a:latin typeface="Book Antiqua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56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550A7F-76E8-A2E5-A3B9-8151B7B950FA}"/>
              </a:ext>
            </a:extLst>
          </p:cNvPr>
          <p:cNvSpPr txBox="1"/>
          <p:nvPr/>
        </p:nvSpPr>
        <p:spPr>
          <a:xfrm>
            <a:off x="302995" y="242503"/>
            <a:ext cx="11887198" cy="66171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Bookman Old Style"/>
                <a:ea typeface="+mn-lt"/>
                <a:cs typeface="+mn-lt"/>
              </a:rPr>
              <a:t>How much time do users take to complete a purchase and what does it reveal?</a:t>
            </a:r>
          </a:p>
          <a:p>
            <a:r>
              <a:rPr lang="en-US">
                <a:latin typeface="Bookman Old Style"/>
                <a:ea typeface="+mn-lt"/>
                <a:cs typeface="+mn-lt"/>
              </a:rPr>
              <a:t>Fast purchases → 216K – 474K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Medium delay → 3M – 7M</a:t>
            </a:r>
            <a:endParaRPr lang="en-US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Very high delay → up to 275M+</a:t>
            </a:r>
            <a:endParaRPr lang="en-US" dirty="0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Negative values → -2.3M</a:t>
            </a:r>
            <a:endParaRPr lang="en-US">
              <a:latin typeface="Bookman Old Style"/>
            </a:endParaRPr>
          </a:p>
          <a:p>
            <a:r>
              <a:rPr lang="en-US" sz="2000" b="1">
                <a:latin typeface="Bookman Old Style"/>
                <a:ea typeface="+mn-lt"/>
                <a:cs typeface="+mn-lt"/>
              </a:rPr>
              <a:t> Analysis:</a:t>
            </a:r>
            <a:endParaRPr lang="en-US" sz="2000" b="1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Time-to-purchase shows huge variation across users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1)Some users convert quickly after viewing</a:t>
            </a:r>
            <a:endParaRPr lang="en-US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2)Many users take significant time before purchasing</a:t>
            </a:r>
            <a:endParaRPr lang="en-US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3)Presence of negative values indicates event order inconsistency</a:t>
            </a:r>
            <a:endParaRPr lang="en-US">
              <a:latin typeface="Bookman Old Style"/>
            </a:endParaRPr>
          </a:p>
          <a:p>
            <a:r>
              <a:rPr lang="en-US" sz="2000" b="1">
                <a:latin typeface="Bookman Old Style"/>
                <a:ea typeface="+mn-lt"/>
                <a:cs typeface="+mn-lt"/>
              </a:rPr>
              <a:t>Key Insight:</a:t>
            </a:r>
            <a:endParaRPr lang="en-US" sz="2000" b="1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 Users are not converting instantly — purchase behavior is time-dependent Clear segmentation: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High-intent users → quick purchase</a:t>
            </a:r>
            <a:endParaRPr lang="en-US" dirty="0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Consideration users → delayed purchase (research/compare phase)</a:t>
            </a:r>
            <a:endParaRPr lang="en-US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 </a:t>
            </a:r>
            <a:r>
              <a:rPr lang="en-US" sz="2000" b="1">
                <a:latin typeface="Bookman Old Style"/>
                <a:ea typeface="+mn-lt"/>
                <a:cs typeface="+mn-lt"/>
              </a:rPr>
              <a:t>Business Interpretation:</a:t>
            </a:r>
            <a:endParaRPr lang="en-US" sz="2000" b="1" dirty="0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 Majority users need: 1) Multiple sessions 2)</a:t>
            </a:r>
            <a:r>
              <a:rPr lang="en-US">
                <a:latin typeface="Century Gothic"/>
                <a:ea typeface="+mn-lt"/>
                <a:cs typeface="+mn-lt"/>
              </a:rPr>
              <a:t>More exposure 3)Decision time</a:t>
            </a:r>
            <a:endParaRPr lang="en-US">
              <a:latin typeface="Bookman Old Style"/>
            </a:endParaRPr>
          </a:p>
          <a:p>
            <a:r>
              <a:rPr lang="en-US" sz="2000" b="1">
                <a:latin typeface="Bookman Old Style"/>
                <a:ea typeface="+mn-lt"/>
                <a:cs typeface="+mn-lt"/>
              </a:rPr>
              <a:t>Business Action:</a:t>
            </a:r>
            <a:endParaRPr lang="en-US" sz="2000" b="1" dirty="0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Retarget users who viewed but didn’t purchase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Use email reminders /ads for delayed users &amp; Fix event tracking for reliable insights</a:t>
            </a:r>
            <a:endParaRPr lang="en-US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Offer time-based incentives (</a:t>
            </a:r>
            <a:r>
              <a:rPr lang="en-US">
                <a:latin typeface="Bookman Old Style"/>
                <a:ea typeface="+mn-lt"/>
                <a:cs typeface="+mn-lt"/>
              </a:rPr>
              <a:t>discounts, urgency</a:t>
            </a:r>
            <a:r>
              <a:rPr lang="en-US" dirty="0">
                <a:latin typeface="Bookman Old Style"/>
                <a:ea typeface="+mn-lt"/>
                <a:cs typeface="+mn-lt"/>
              </a:rPr>
              <a:t>)</a:t>
            </a:r>
            <a:endParaRPr lang="en-US" dirty="0">
              <a:latin typeface="Bookman Old Style"/>
            </a:endParaRPr>
          </a:p>
          <a:p>
            <a:r>
              <a:rPr lang="en-US" dirty="0">
                <a:solidFill>
                  <a:srgbClr val="FF0000"/>
                </a:solidFill>
                <a:latin typeface="Book Antiqua"/>
                <a:ea typeface="+mn-lt"/>
                <a:cs typeface="+mn-lt"/>
              </a:rPr>
              <a:t>The wide variation in time-to-purchase indicates that most users follow a delayed decision-making journey, making retargeting and multi-touch engagement critical for improving conversions.</a:t>
            </a:r>
            <a:endParaRPr lang="en-US" dirty="0">
              <a:solidFill>
                <a:srgbClr val="FF0000"/>
              </a:solidFill>
              <a:latin typeface="Book Antiqua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895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F11C08-3D19-64A0-F4D4-F2CBED3AEE7B}"/>
              </a:ext>
            </a:extLst>
          </p:cNvPr>
          <p:cNvSpPr txBox="1"/>
          <p:nvPr/>
        </p:nvSpPr>
        <p:spPr>
          <a:xfrm>
            <a:off x="247595" y="233312"/>
            <a:ext cx="11699307" cy="62478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Bookman Old Style"/>
              </a:rPr>
              <a:t>What type of users dominate the platform fast or slow </a:t>
            </a:r>
            <a:r>
              <a:rPr lang="en-US" sz="2000" b="1">
                <a:latin typeface="Bookman Old Style"/>
              </a:rPr>
              <a:t>converters?</a:t>
            </a:r>
            <a:endParaRPr lang="en-US" sz="2000" b="1" dirty="0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All visible users are classified as “Slow Converter”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Example counts per row: 3, 1, 8, 1, 1, 1, 6</a:t>
            </a:r>
            <a:endParaRPr lang="en-US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No “Fast Converter” observed in output</a:t>
            </a:r>
            <a:endParaRPr lang="en-US">
              <a:latin typeface="Bookman Old Style"/>
            </a:endParaRPr>
          </a:p>
          <a:p>
            <a:r>
              <a:rPr lang="en-US" sz="2000" b="1">
                <a:latin typeface="Bookman Old Style"/>
                <a:ea typeface="+mn-lt"/>
                <a:cs typeface="+mn-lt"/>
              </a:rPr>
              <a:t> Analysis:</a:t>
            </a:r>
            <a:endParaRPr lang="en-US" sz="2000" b="1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Query result shows: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Fast converters ≈ negligible / missing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Majority users take long time to convert</a:t>
            </a:r>
            <a:endParaRPr lang="en-US">
              <a:latin typeface="Bookman Old Style"/>
            </a:endParaRPr>
          </a:p>
          <a:p>
            <a:r>
              <a:rPr lang="en-US" u="sng">
                <a:latin typeface="Bookman Old Style"/>
                <a:ea typeface="+mn-lt"/>
                <a:cs typeface="+mn-lt"/>
              </a:rPr>
              <a:t>This aligns with:- </a:t>
            </a:r>
            <a:r>
              <a:rPr lang="en-US">
                <a:latin typeface="Bookman Old Style"/>
                <a:ea typeface="+mn-lt"/>
                <a:cs typeface="+mn-lt"/>
              </a:rPr>
              <a:t>Q3 → delayed cart behavior &amp; Q4 → delayed purchase behavior</a:t>
            </a:r>
            <a:endParaRPr lang="en-US" u="sng">
              <a:latin typeface="Bookman Old Style"/>
            </a:endParaRPr>
          </a:p>
          <a:p>
            <a:r>
              <a:rPr lang="en-US"/>
              <a:t>Key Insight:</a:t>
            </a:r>
            <a:endParaRPr lang="en-US" dirty="0"/>
          </a:p>
          <a:p>
            <a:r>
              <a:rPr lang="en-US">
                <a:latin typeface="Bookman Old Style"/>
                <a:ea typeface="+mn-lt"/>
                <a:cs typeface="+mn-lt"/>
              </a:rPr>
              <a:t>Platform is dominated by slow decision-making users Conversion is: 1)Not instant 2)Requires multiple interactions</a:t>
            </a:r>
            <a:endParaRPr lang="en-US">
              <a:latin typeface="Bookman Old Style"/>
            </a:endParaRPr>
          </a:p>
          <a:p>
            <a:r>
              <a:rPr lang="en-US" b="1">
                <a:ea typeface="+mn-lt"/>
                <a:cs typeface="+mn-lt"/>
              </a:rPr>
              <a:t> Business Interpretation:</a:t>
            </a:r>
            <a:endParaRPr lang="en-US" b="1"/>
          </a:p>
          <a:p>
            <a:r>
              <a:rPr lang="en-US">
                <a:latin typeface="Bookman Old Style"/>
                <a:ea typeface="+mn-lt"/>
                <a:cs typeface="+mn-lt"/>
              </a:rPr>
              <a:t>Users are likely: 1)Comparing products 2)Waiting for better price 3)Not fully convinced in first visit</a:t>
            </a:r>
            <a:endParaRPr lang="en-US">
              <a:latin typeface="Bookman Old Style"/>
            </a:endParaRPr>
          </a:p>
          <a:p>
            <a:r>
              <a:rPr lang="en-US" dirty="0">
                <a:solidFill>
                  <a:srgbClr val="FF0000"/>
                </a:solidFill>
                <a:latin typeface="Bookman Old Style"/>
                <a:ea typeface="+mn-lt"/>
                <a:cs typeface="+mn-lt"/>
              </a:rPr>
              <a:t>This means: Impulse buying is very low</a:t>
            </a:r>
            <a:endParaRPr lang="en-US" dirty="0">
              <a:solidFill>
                <a:srgbClr val="FF0000"/>
              </a:solidFill>
              <a:latin typeface="Bookman Old Style"/>
            </a:endParaRPr>
          </a:p>
          <a:p>
            <a:r>
              <a:rPr lang="en-US" b="1">
                <a:latin typeface="Bookman Old Style"/>
                <a:ea typeface="+mn-lt"/>
                <a:cs typeface="+mn-lt"/>
              </a:rPr>
              <a:t>Business Action:</a:t>
            </a:r>
            <a:endParaRPr lang="en-US" b="1">
              <a:latin typeface="Bookman Old Style"/>
            </a:endParaRPr>
          </a:p>
          <a:p>
            <a:r>
              <a:rPr lang="en-US">
                <a:ea typeface="+mn-lt"/>
                <a:cs typeface="+mn-lt"/>
              </a:rPr>
              <a:t>1)Run retargeting ads for returning users &amp; Use personalized recommendations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2)Add urgency triggers (limited stock, deals)</a:t>
            </a:r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  <a:latin typeface="Book Antiqua"/>
                <a:ea typeface="+mn-lt"/>
                <a:cs typeface="Browallia New"/>
              </a:rPr>
              <a:t>The absence of fast converters indicates that purchases are largely delayed, requiring sustained engagement rather than one-time interactions.</a:t>
            </a:r>
            <a:endParaRPr lang="en-US" b="1" dirty="0">
              <a:solidFill>
                <a:srgbClr val="FF0000"/>
              </a:solidFill>
              <a:latin typeface="Book Antiqua"/>
              <a:cs typeface="Browallia New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598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C8649B-7E89-D7D4-99D9-55F72ED04A4F}"/>
              </a:ext>
            </a:extLst>
          </p:cNvPr>
          <p:cNvSpPr txBox="1"/>
          <p:nvPr/>
        </p:nvSpPr>
        <p:spPr>
          <a:xfrm>
            <a:off x="331495" y="252621"/>
            <a:ext cx="11667993" cy="64940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Bookman Old Style"/>
                <a:ea typeface="+mn-lt"/>
                <a:cs typeface="+mn-lt"/>
              </a:rPr>
              <a:t>Which highly engaged users are not converting?</a:t>
            </a:r>
            <a:endParaRPr lang="en-US" sz="2000" b="1">
              <a:latin typeface="Bookman Old Style"/>
            </a:endParaRPr>
          </a:p>
          <a:p>
            <a:r>
              <a:rPr lang="en-US" sz="1600" b="1">
                <a:latin typeface="Book Antiqua"/>
                <a:ea typeface="+mn-lt"/>
                <a:cs typeface="+mn-lt"/>
              </a:rPr>
              <a:t>Top non-converting users:</a:t>
            </a:r>
            <a:endParaRPr lang="en-US" sz="1600" b="1">
              <a:latin typeface="Book Antiqua"/>
            </a:endParaRPr>
          </a:p>
          <a:p>
            <a:r>
              <a:rPr lang="en-US" sz="1600" b="1">
                <a:latin typeface="Book Antiqua"/>
                <a:ea typeface="+mn-lt"/>
                <a:cs typeface="+mn-lt"/>
              </a:rPr>
              <a:t>Visitor 892013 → 2024 events</a:t>
            </a:r>
            <a:endParaRPr lang="en-US" sz="1600" b="1">
              <a:latin typeface="Book Antiqua"/>
            </a:endParaRPr>
          </a:p>
          <a:p>
            <a:r>
              <a:rPr lang="en-US" sz="1600" b="1">
                <a:latin typeface="Book Antiqua"/>
                <a:ea typeface="+mn-lt"/>
                <a:cs typeface="+mn-lt"/>
              </a:rPr>
              <a:t>Visitor 638482 → 1829 events</a:t>
            </a:r>
            <a:endParaRPr lang="en-US" sz="1600" b="1">
              <a:latin typeface="Book Antiqua"/>
            </a:endParaRPr>
          </a:p>
          <a:p>
            <a:r>
              <a:rPr lang="en-US" sz="1600" b="1">
                <a:latin typeface="Book Antiqua"/>
                <a:ea typeface="+mn-lt"/>
                <a:cs typeface="+mn-lt"/>
              </a:rPr>
              <a:t>Visitor 79627 → 1623 events</a:t>
            </a:r>
            <a:endParaRPr lang="en-US" sz="1600" b="1">
              <a:latin typeface="Book Antiqua"/>
            </a:endParaRPr>
          </a:p>
          <a:p>
            <a:r>
              <a:rPr lang="en-US" sz="1600" b="1">
                <a:latin typeface="Book Antiqua"/>
                <a:ea typeface="+mn-lt"/>
                <a:cs typeface="+mn-lt"/>
              </a:rPr>
              <a:t>Visitor 310759 → 1177 events</a:t>
            </a:r>
            <a:endParaRPr lang="en-US" sz="1600" b="1">
              <a:latin typeface="Book Antiqua"/>
            </a:endParaRPr>
          </a:p>
          <a:p>
            <a:r>
              <a:rPr lang="en-US" sz="1600" b="1">
                <a:latin typeface="Book Antiqua"/>
                <a:ea typeface="+mn-lt"/>
                <a:cs typeface="+mn-lt"/>
              </a:rPr>
              <a:t>Visitor 77390 → 960 events</a:t>
            </a:r>
            <a:endParaRPr lang="en-US" sz="1600" b="1">
              <a:latin typeface="Book Antiqua"/>
            </a:endParaRPr>
          </a:p>
          <a:p>
            <a:r>
              <a:rPr lang="en-US" sz="1600" b="1">
                <a:latin typeface="Book Antiqua"/>
                <a:ea typeface="+mn-lt"/>
                <a:cs typeface="+mn-lt"/>
              </a:rPr>
              <a:t>Visitor 527307 → 937 events</a:t>
            </a:r>
            <a:endParaRPr lang="en-US" sz="1600" b="1">
              <a:latin typeface="Book Antiqua"/>
            </a:endParaRPr>
          </a:p>
          <a:p>
            <a:r>
              <a:rPr lang="en-US" sz="1600" b="1">
                <a:latin typeface="Book Antiqua"/>
                <a:ea typeface="+mn-lt"/>
                <a:cs typeface="+mn-lt"/>
              </a:rPr>
              <a:t>Visitor 1327144 → 852 events</a:t>
            </a:r>
            <a:endParaRPr lang="en-US" sz="1600" b="1">
              <a:latin typeface="Book Antiqua"/>
            </a:endParaRPr>
          </a:p>
          <a:p>
            <a:r>
              <a:rPr lang="en-US" sz="1600" b="1">
                <a:latin typeface="Book Antiqua"/>
                <a:ea typeface="+mn-lt"/>
                <a:cs typeface="+mn-lt"/>
              </a:rPr>
              <a:t>All = 0 purchases </a:t>
            </a:r>
            <a:endParaRPr lang="en-US" sz="1600" b="1">
              <a:latin typeface="Book Antiqua"/>
            </a:endParaRPr>
          </a:p>
          <a:p>
            <a:r>
              <a:rPr lang="en-US" b="1">
                <a:latin typeface="Bookman Old Style"/>
                <a:ea typeface="+mn-lt"/>
                <a:cs typeface="+mn-lt"/>
              </a:rPr>
              <a:t> Analysis:</a:t>
            </a:r>
            <a:endParaRPr lang="en-US" b="1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These users: 1)Extremely active (800–2000+ interactions) Still not converting</a:t>
            </a:r>
          </a:p>
          <a:p>
            <a:r>
              <a:rPr lang="en-US" b="1">
                <a:solidFill>
                  <a:srgbClr val="FF0000"/>
                </a:solidFill>
                <a:latin typeface="Book Antiqua"/>
                <a:ea typeface="+mn-lt"/>
                <a:cs typeface="+mn-lt"/>
              </a:rPr>
              <a:t>Interest HIGH -----Conversion ZERO</a:t>
            </a:r>
            <a:endParaRPr lang="en-US" b="1">
              <a:solidFill>
                <a:srgbClr val="FF0000"/>
              </a:solidFill>
              <a:latin typeface="Book Antiqua"/>
            </a:endParaRPr>
          </a:p>
          <a:p>
            <a:r>
              <a:rPr lang="en-US" b="1">
                <a:latin typeface="Bookman Old Style"/>
                <a:ea typeface="+mn-lt"/>
                <a:cs typeface="+mn-lt"/>
              </a:rPr>
              <a:t> Key Insight:</a:t>
            </a:r>
            <a:endParaRPr lang="en-US" b="1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There is a serious drop-off at final stage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Users are: 1)Browsing repeatedly &amp; Engaging deeply</a:t>
            </a:r>
            <a:endParaRPr lang="en-US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But not trusting /not completing purchase</a:t>
            </a:r>
            <a:endParaRPr lang="en-US" dirty="0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 </a:t>
            </a:r>
            <a:r>
              <a:rPr lang="en-US" b="1">
                <a:latin typeface="Bookman Old Style"/>
                <a:ea typeface="+mn-lt"/>
                <a:cs typeface="+mn-lt"/>
              </a:rPr>
              <a:t>Business Interpretation:</a:t>
            </a:r>
            <a:endParaRPr lang="en-US" b="1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Possible reasons: </a:t>
            </a:r>
            <a:r>
              <a:rPr lang="en-US" sz="1400" b="1" dirty="0">
                <a:latin typeface="Bookman Old Style"/>
                <a:ea typeface="+mn-lt"/>
                <a:cs typeface="+mn-lt"/>
              </a:rPr>
              <a:t>1)</a:t>
            </a:r>
            <a:r>
              <a:rPr lang="en-US" sz="1400" b="1" dirty="0">
                <a:latin typeface="Century Gothic"/>
                <a:ea typeface="+mn-lt"/>
                <a:cs typeface="+mn-lt"/>
              </a:rPr>
              <a:t>Price too high  2)Lack of trust (reviews, ratings)  3)Comparing alternatives</a:t>
            </a:r>
            <a:endParaRPr lang="en-US" sz="1400" b="1" dirty="0">
              <a:latin typeface="Bookman Old Style"/>
            </a:endParaRPr>
          </a:p>
          <a:p>
            <a:r>
              <a:rPr lang="en-US" dirty="0">
                <a:ea typeface="+mn-lt"/>
                <a:cs typeface="+mn-lt"/>
              </a:rPr>
              <a:t> </a:t>
            </a:r>
            <a:r>
              <a:rPr lang="en-US" b="1">
                <a:ea typeface="+mn-lt"/>
                <a:cs typeface="+mn-lt"/>
              </a:rPr>
              <a:t>Business Actions:</a:t>
            </a:r>
            <a:endParaRPr lang="en-US" b="1" dirty="0"/>
          </a:p>
          <a:p>
            <a:r>
              <a:rPr lang="en-US">
                <a:ea typeface="+mn-lt"/>
                <a:cs typeface="+mn-lt"/>
              </a:rPr>
              <a:t> Target these users: </a:t>
            </a:r>
            <a:r>
              <a:rPr lang="en-US" sz="1400" b="1">
                <a:ea typeface="+mn-lt"/>
                <a:cs typeface="+mn-lt"/>
              </a:rPr>
              <a:t>1)Retargeting ads 2)Social proof (ratings/reviews) 3)Cart reminders</a:t>
            </a:r>
            <a:endParaRPr lang="en-US" sz="1400" b="1"/>
          </a:p>
          <a:p>
            <a:r>
              <a:rPr lang="en-US" dirty="0">
                <a:solidFill>
                  <a:srgbClr val="FF0000"/>
                </a:solidFill>
                <a:latin typeface="Book Antiqua"/>
                <a:ea typeface="+mn-lt"/>
                <a:cs typeface="+mn-lt"/>
              </a:rPr>
              <a:t>A small group of users shows extremely high engagement (up to 2000+ interactions) but zero conversions, indicating a critical failure at the final decision stage.</a:t>
            </a:r>
            <a:endParaRPr lang="en-US" dirty="0">
              <a:solidFill>
                <a:srgbClr val="FF0000"/>
              </a:solidFill>
              <a:latin typeface="Book Antiqua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4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D8EE07-1EFF-DCB6-9BF9-BC83A2D9F5CB}"/>
              </a:ext>
            </a:extLst>
          </p:cNvPr>
          <p:cNvSpPr txBox="1"/>
          <p:nvPr/>
        </p:nvSpPr>
        <p:spPr>
          <a:xfrm>
            <a:off x="283758" y="405704"/>
            <a:ext cx="11250458" cy="61555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Bookman Old Style"/>
                <a:ea typeface="+mn-lt"/>
                <a:cs typeface="+mn-lt"/>
              </a:rPr>
              <a:t>High Traffic but Low Conversion Products?</a:t>
            </a:r>
            <a:endParaRPr lang="en-US" sz="2000" b="1">
              <a:latin typeface="Bookman Old Style"/>
            </a:endParaRPr>
          </a:p>
          <a:p>
            <a:r>
              <a:rPr lang="en-US" sz="1400" b="1">
                <a:latin typeface="Bookman Old Style"/>
                <a:ea typeface="+mn-lt"/>
                <a:cs typeface="+mn-lt"/>
              </a:rPr>
              <a:t>Multiple products with 1000+ views but 0 purchases</a:t>
            </a:r>
            <a:endParaRPr lang="en-US" sz="1400" b="1">
              <a:latin typeface="Bookman Old Style"/>
            </a:endParaRPr>
          </a:p>
          <a:p>
            <a:r>
              <a:rPr lang="en-US" sz="1400" b="1">
                <a:latin typeface="Bookman Old Style"/>
                <a:ea typeface="+mn-lt"/>
                <a:cs typeface="+mn-lt"/>
              </a:rPr>
              <a:t>187946 → 2911 views, 0 sales</a:t>
            </a:r>
            <a:endParaRPr lang="en-US" sz="1400" b="1">
              <a:latin typeface="Bookman Old Style"/>
            </a:endParaRPr>
          </a:p>
          <a:p>
            <a:r>
              <a:rPr lang="en-US" sz="1400" b="1">
                <a:latin typeface="Bookman Old Style"/>
                <a:ea typeface="+mn-lt"/>
                <a:cs typeface="+mn-lt"/>
              </a:rPr>
              <a:t>5411 → 2078 views, 0 sales</a:t>
            </a:r>
            <a:endParaRPr lang="en-US" sz="1400" b="1">
              <a:latin typeface="Bookman Old Style"/>
            </a:endParaRPr>
          </a:p>
          <a:p>
            <a:r>
              <a:rPr lang="en-US" sz="1400" b="1">
                <a:latin typeface="Bookman Old Style"/>
                <a:ea typeface="+mn-lt"/>
                <a:cs typeface="+mn-lt"/>
              </a:rPr>
              <a:t>370653 → 1577 views, 0 sales</a:t>
            </a:r>
            <a:endParaRPr lang="en-US" sz="1400" b="1">
              <a:latin typeface="Bookman Old Style"/>
            </a:endParaRPr>
          </a:p>
          <a:p>
            <a:r>
              <a:rPr lang="en-US" sz="1400" b="1" dirty="0">
                <a:latin typeface="Bookman Old Style"/>
                <a:ea typeface="+mn-lt"/>
                <a:cs typeface="+mn-lt"/>
              </a:rPr>
              <a:t>Some products with very low conversion (&lt;2%)</a:t>
            </a:r>
            <a:endParaRPr lang="en-US" sz="1400" b="1">
              <a:latin typeface="Bookman Old Style"/>
            </a:endParaRPr>
          </a:p>
          <a:p>
            <a:r>
              <a:rPr lang="en-US" sz="1400" b="1">
                <a:latin typeface="Bookman Old Style"/>
                <a:ea typeface="+mn-lt"/>
                <a:cs typeface="+mn-lt"/>
              </a:rPr>
              <a:t>219512 → ~0.88%</a:t>
            </a:r>
            <a:endParaRPr lang="en-US" sz="1400" b="1">
              <a:latin typeface="Bookman Old Style"/>
            </a:endParaRPr>
          </a:p>
          <a:p>
            <a:r>
              <a:rPr lang="en-US" sz="1400" b="1">
                <a:latin typeface="Bookman Old Style"/>
                <a:ea typeface="+mn-lt"/>
                <a:cs typeface="+mn-lt"/>
              </a:rPr>
              <a:t>384302 → ~1.2%</a:t>
            </a:r>
            <a:endParaRPr lang="en-US" sz="1400" b="1">
              <a:latin typeface="Bookman Old Style"/>
            </a:endParaRPr>
          </a:p>
          <a:p>
            <a:r>
              <a:rPr lang="en-US" sz="1400" b="1">
                <a:latin typeface="Bookman Old Style"/>
                <a:ea typeface="+mn-lt"/>
                <a:cs typeface="+mn-lt"/>
              </a:rPr>
              <a:t>Few products performing well</a:t>
            </a:r>
            <a:endParaRPr lang="en-US" sz="1400" b="1">
              <a:latin typeface="Bookman Old Style"/>
            </a:endParaRPr>
          </a:p>
          <a:p>
            <a:r>
              <a:rPr lang="en-US" sz="1400" b="1">
                <a:latin typeface="Bookman Old Style"/>
                <a:ea typeface="+mn-lt"/>
                <a:cs typeface="+mn-lt"/>
              </a:rPr>
              <a:t>461686 → ~9.3% conversion</a:t>
            </a:r>
            <a:endParaRPr lang="en-US" sz="1400" b="1">
              <a:latin typeface="Bookman Old Style"/>
            </a:endParaRPr>
          </a:p>
          <a:p>
            <a:r>
              <a:rPr lang="en-US" b="1">
                <a:latin typeface="Bookman Old Style"/>
                <a:ea typeface="+mn-lt"/>
                <a:cs typeface="+mn-lt"/>
              </a:rPr>
              <a:t> Insight:</a:t>
            </a:r>
            <a:endParaRPr lang="en-US" b="1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High user interest does not translate into purchase Same traffic level: 1)Some products convert well 2)Some convert 0%</a:t>
            </a:r>
            <a:endParaRPr lang="en-US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 </a:t>
            </a:r>
            <a:r>
              <a:rPr lang="en-US" sz="1600" b="1">
                <a:solidFill>
                  <a:srgbClr val="FF0000"/>
                </a:solidFill>
                <a:latin typeface="Bookman Old Style"/>
                <a:ea typeface="+mn-lt"/>
                <a:cs typeface="+mn-lt"/>
              </a:rPr>
              <a:t>Indicates product-level issue, not traffic issue</a:t>
            </a:r>
            <a:endParaRPr lang="en-US" sz="1600" b="1">
              <a:solidFill>
                <a:srgbClr val="FF0000"/>
              </a:solidFill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 </a:t>
            </a:r>
            <a:r>
              <a:rPr lang="en-US" b="1">
                <a:latin typeface="Bookman Old Style"/>
                <a:ea typeface="+mn-lt"/>
                <a:cs typeface="+mn-lt"/>
              </a:rPr>
              <a:t>Business Problem:</a:t>
            </a:r>
            <a:endParaRPr lang="en-US" b="1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 </a:t>
            </a:r>
            <a:r>
              <a:rPr lang="en-US" sz="1600">
                <a:latin typeface="Bookman Old Style"/>
                <a:ea typeface="+mn-lt"/>
                <a:cs typeface="+mn-lt"/>
              </a:rPr>
              <a:t>Platform is losing revenue from high-visibility products</a:t>
            </a:r>
            <a:endParaRPr lang="en-US" sz="1600">
              <a:latin typeface="Bookman Old Style"/>
            </a:endParaRPr>
          </a:p>
          <a:p>
            <a:r>
              <a:rPr lang="en-US" sz="1600">
                <a:latin typeface="Bookman Old Style"/>
                <a:ea typeface="+mn-lt"/>
                <a:cs typeface="+mn-lt"/>
              </a:rPr>
              <a:t>Users drop at final decision stage (product page / pricing / trust)</a:t>
            </a:r>
            <a:endParaRPr lang="en-US" sz="1600">
              <a:latin typeface="Bookman Old Style"/>
            </a:endParaRPr>
          </a:p>
          <a:p>
            <a:r>
              <a:rPr lang="en-US" b="1">
                <a:latin typeface="Bookman Old Style"/>
                <a:ea typeface="+mn-lt"/>
                <a:cs typeface="+mn-lt"/>
              </a:rPr>
              <a:t>Recommendation:</a:t>
            </a:r>
            <a:endParaRPr lang="en-US" b="1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Optimize top zero-conversion products first &amp; Improve 1)Product images, Pricing strategy</a:t>
            </a:r>
            <a:endParaRPr lang="en-US" dirty="0">
              <a:latin typeface="Bookman Old Style"/>
            </a:endParaRPr>
          </a:p>
          <a:p>
            <a:r>
              <a:rPr lang="en-US">
                <a:latin typeface="Bookman Old Style"/>
                <a:ea typeface="+mn-lt"/>
                <a:cs typeface="+mn-lt"/>
              </a:rPr>
              <a:t>2)Reviews &amp; ratings &amp; Run A/B testing</a:t>
            </a:r>
            <a:endParaRPr lang="en-US" dirty="0">
              <a:latin typeface="Bookman Old Style"/>
            </a:endParaRPr>
          </a:p>
          <a:p>
            <a:endParaRPr lang="en-US" dirty="0">
              <a:latin typeface="Bookman Old Style"/>
            </a:endParaRPr>
          </a:p>
          <a:p>
            <a:r>
              <a:rPr lang="en-US" sz="1600" b="1" dirty="0">
                <a:solidFill>
                  <a:srgbClr val="FF0000"/>
                </a:solidFill>
                <a:latin typeface="Book Antiqua"/>
                <a:ea typeface="+mn-lt"/>
                <a:cs typeface="+mn-lt"/>
              </a:rPr>
              <a:t>High traffic products failing to convert highlight a critical gap in product-level optimization rather than user acquisition.</a:t>
            </a:r>
            <a:endParaRPr lang="en-US" sz="1600" b="1" dirty="0">
              <a:solidFill>
                <a:srgbClr val="FF0000"/>
              </a:solidFill>
              <a:latin typeface="Book Antiqua"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003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35805A-0D07-4C90-6BD9-3A0B67ABBA28}"/>
              </a:ext>
            </a:extLst>
          </p:cNvPr>
          <p:cNvSpPr txBox="1"/>
          <p:nvPr/>
        </p:nvSpPr>
        <p:spPr>
          <a:xfrm>
            <a:off x="290062" y="237374"/>
            <a:ext cx="11720186" cy="63709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Bookman Old Style"/>
                <a:ea typeface="+mn-lt"/>
                <a:cs typeface="+mn-lt"/>
              </a:rPr>
              <a:t>Conclusion + Business Impact</a:t>
            </a:r>
            <a:endParaRPr lang="en-US" sz="2400" b="1">
              <a:latin typeface="Bookman Old Style"/>
            </a:endParaRPr>
          </a:p>
          <a:p>
            <a:r>
              <a:rPr lang="en-US" dirty="0">
                <a:ea typeface="+mn-lt"/>
                <a:cs typeface="+mn-lt"/>
              </a:rPr>
              <a:t> </a:t>
            </a:r>
            <a:r>
              <a:rPr lang="en-US" b="1">
                <a:latin typeface="Bookman Old Style"/>
                <a:ea typeface="+mn-lt"/>
                <a:cs typeface="+mn-lt"/>
              </a:rPr>
              <a:t>Overall Conclusion</a:t>
            </a:r>
            <a:endParaRPr lang="en-US" b="1">
              <a:latin typeface="Bookman Old Style"/>
            </a:endParaRPr>
          </a:p>
          <a:p>
            <a:r>
              <a:rPr lang="en-US" sz="1600" b="1">
                <a:latin typeface="Book Antiqua"/>
                <a:ea typeface="+mn-lt"/>
                <a:cs typeface="+mn-lt"/>
              </a:rPr>
              <a:t>Huge drop from view → add to cart (2.69%)</a:t>
            </a:r>
            <a:endParaRPr lang="en-US" sz="1600" b="1">
              <a:latin typeface="Book Antiqua"/>
            </a:endParaRPr>
          </a:p>
          <a:p>
            <a:r>
              <a:rPr lang="en-US" sz="1600" b="1" dirty="0">
                <a:latin typeface="Book Antiqua"/>
                <a:ea typeface="+mn-lt"/>
                <a:cs typeface="+mn-lt"/>
              </a:rPr>
              <a:t>Users take significant time to convert</a:t>
            </a:r>
            <a:endParaRPr lang="en-US" sz="1600" b="1">
              <a:latin typeface="Book Antiqua"/>
            </a:endParaRPr>
          </a:p>
          <a:p>
            <a:r>
              <a:rPr lang="en-US" sz="1600" b="1">
                <a:latin typeface="Book Antiqua"/>
                <a:ea typeface="+mn-lt"/>
                <a:cs typeface="+mn-lt"/>
              </a:rPr>
              <a:t>Majority users are slow converters</a:t>
            </a:r>
            <a:endParaRPr lang="en-US" sz="1600" b="1">
              <a:latin typeface="Book Antiqua"/>
            </a:endParaRPr>
          </a:p>
          <a:p>
            <a:r>
              <a:rPr lang="en-US" sz="1600" b="1">
                <a:latin typeface="Book Antiqua"/>
                <a:ea typeface="+mn-lt"/>
                <a:cs typeface="+mn-lt"/>
              </a:rPr>
              <a:t>Many highly engaged users never purchase</a:t>
            </a:r>
            <a:endParaRPr lang="en-US" sz="1600" b="1">
              <a:latin typeface="Book Antiqua"/>
            </a:endParaRPr>
          </a:p>
          <a:p>
            <a:r>
              <a:rPr lang="en-US" sz="1600" b="1">
                <a:latin typeface="Book Antiqua"/>
                <a:ea typeface="+mn-lt"/>
                <a:cs typeface="+mn-lt"/>
              </a:rPr>
              <a:t>Multiple high-traffic products generate zero sales</a:t>
            </a:r>
            <a:endParaRPr lang="en-US" sz="1600" b="1">
              <a:latin typeface="Book Antiqua"/>
            </a:endParaRPr>
          </a:p>
          <a:p>
            <a:r>
              <a:rPr lang="en-US" sz="1400" b="1">
                <a:solidFill>
                  <a:srgbClr val="FF0000"/>
                </a:solidFill>
                <a:ea typeface="+mn-lt"/>
                <a:cs typeface="+mn-lt"/>
              </a:rPr>
              <a:t>Conversion problem &gt; Traffic problem</a:t>
            </a:r>
            <a:endParaRPr lang="en-US" sz="1400" b="1">
              <a:solidFill>
                <a:srgbClr val="FF0000"/>
              </a:solidFill>
            </a:endParaRPr>
          </a:p>
          <a:p>
            <a:r>
              <a:rPr lang="en-US" b="1">
                <a:latin typeface="Bookman Old Style"/>
                <a:ea typeface="+mn-lt"/>
                <a:cs typeface="+mn-lt"/>
              </a:rPr>
              <a:t>Business Impact</a:t>
            </a:r>
            <a:endParaRPr lang="en-US" b="1">
              <a:latin typeface="Bookman Old Style"/>
            </a:endParaRPr>
          </a:p>
          <a:p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latin typeface="Bookman Old Style"/>
                <a:ea typeface="+mn-lt"/>
                <a:cs typeface="+mn-lt"/>
              </a:rPr>
              <a:t>If </a:t>
            </a:r>
            <a:r>
              <a:rPr lang="en-US">
                <a:latin typeface="Bookman Old Style"/>
                <a:ea typeface="+mn-lt"/>
                <a:cs typeface="+mn-lt"/>
              </a:rPr>
              <a:t>optimized Revenue can increase without increasing traffic</a:t>
            </a:r>
            <a:endParaRPr lang="en-US">
              <a:latin typeface="Bookman Old Style"/>
            </a:endParaRPr>
          </a:p>
          <a:p>
            <a:r>
              <a:rPr lang="en-US" dirty="0">
                <a:latin typeface="Bookman Old Style"/>
                <a:ea typeface="+mn-lt"/>
                <a:cs typeface="+mn-lt"/>
              </a:rPr>
              <a:t>Focus </a:t>
            </a:r>
            <a:r>
              <a:rPr lang="en-US" dirty="0" err="1">
                <a:latin typeface="Bookman Old Style"/>
                <a:ea typeface="+mn-lt"/>
                <a:cs typeface="+mn-lt"/>
              </a:rPr>
              <a:t>on:</a:t>
            </a:r>
            <a:r>
              <a:rPr lang="en-US" dirty="0">
                <a:latin typeface="Bookman Old Style"/>
                <a:ea typeface="+mn-lt"/>
                <a:cs typeface="+mn-lt"/>
              </a:rPr>
              <a:t> 1)Product optimization 2) Funnel improvement 3)Retargeting strategies</a:t>
            </a:r>
          </a:p>
          <a:p>
            <a:r>
              <a:rPr lang="en-US" b="1">
                <a:latin typeface="Bookman Old Style"/>
                <a:ea typeface="+mn-lt"/>
                <a:cs typeface="+mn-lt"/>
              </a:rPr>
              <a:t> Key Recommendations</a:t>
            </a:r>
            <a:endParaRPr lang="en-US" b="1">
              <a:latin typeface="Bookman Old Style"/>
            </a:endParaRPr>
          </a:p>
          <a:p>
            <a:r>
              <a:rPr lang="en-US" sz="1600" b="1">
                <a:ea typeface="+mn-lt"/>
                <a:cs typeface="+mn-lt"/>
              </a:rPr>
              <a:t>1)Improve product pages (images, reviews, pricing)</a:t>
            </a:r>
            <a:endParaRPr lang="en-US" sz="1600" b="1"/>
          </a:p>
          <a:p>
            <a:r>
              <a:rPr lang="en-US" sz="1600" b="1">
                <a:ea typeface="+mn-lt"/>
                <a:cs typeface="+mn-lt"/>
              </a:rPr>
              <a:t>2)Target high-intent users (Query 6)</a:t>
            </a:r>
            <a:endParaRPr lang="en-US" sz="1600" b="1"/>
          </a:p>
          <a:p>
            <a:r>
              <a:rPr lang="en-US" sz="1600" b="1">
                <a:ea typeface="+mn-lt"/>
                <a:cs typeface="+mn-lt"/>
              </a:rPr>
              <a:t>3)Optimize</a:t>
            </a:r>
            <a:r>
              <a:rPr lang="en-US" sz="1600" b="1" dirty="0">
                <a:ea typeface="+mn-lt"/>
                <a:cs typeface="+mn-lt"/>
              </a:rPr>
              <a:t> checkout experience</a:t>
            </a:r>
            <a:endParaRPr lang="en-US" sz="1600" b="1"/>
          </a:p>
          <a:p>
            <a:r>
              <a:rPr lang="en-US" sz="1600" b="1">
                <a:ea typeface="+mn-lt"/>
                <a:cs typeface="+mn-lt"/>
              </a:rPr>
              <a:t>4)Add urgency (discounts, offers)</a:t>
            </a:r>
            <a:endParaRPr lang="en-US" sz="1600" b="1"/>
          </a:p>
          <a:p>
            <a:r>
              <a:rPr lang="en-US" sz="1600" b="1">
                <a:ea typeface="+mn-lt"/>
                <a:cs typeface="+mn-lt"/>
              </a:rPr>
              <a:t>5)Focus on top failing products first (Query 7)</a:t>
            </a:r>
            <a:endParaRPr lang="en-US" sz="1600" b="1"/>
          </a:p>
          <a:p>
            <a:endParaRPr lang="en-US" sz="1600" b="1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b="1" dirty="0">
                <a:solidFill>
                  <a:srgbClr val="FF0000"/>
                </a:solidFill>
                <a:ea typeface="+mn-lt"/>
                <a:cs typeface="+mn-lt"/>
              </a:rPr>
              <a:t>This analysis highlights that improving conversion efficiency can unlock significant revenue growth without additional customer acquisition cost</a:t>
            </a:r>
            <a:endParaRPr lang="en-US" b="1">
              <a:solidFill>
                <a:srgbClr val="FF0000"/>
              </a:solidFill>
            </a:endParaRPr>
          </a:p>
          <a:p>
            <a:endParaRPr lang="en-US" b="1" dirty="0">
              <a:solidFill>
                <a:srgbClr val="FF0000"/>
              </a:solidFill>
              <a:latin typeface="Century Gothic"/>
            </a:endParaRPr>
          </a:p>
          <a:p>
            <a:r>
              <a:rPr lang="en-US" b="1">
                <a:latin typeface="Bookman Old Style"/>
              </a:rPr>
              <a:t>Prepared by:</a:t>
            </a:r>
            <a:endParaRPr lang="en-US" dirty="0">
              <a:latin typeface="Century Gothic" panose="020B0502020202020204"/>
            </a:endParaRPr>
          </a:p>
          <a:p>
            <a:r>
              <a:rPr lang="en-US"/>
              <a:t>Akash Anand</a:t>
            </a:r>
          </a:p>
          <a:p>
            <a:r>
              <a:rPr lang="en-US" sz="1400" b="1"/>
              <a:t>Data Analyst I SQL I Pytho</a:t>
            </a:r>
            <a:r>
              <a:rPr lang="en-US" sz="1400" b="1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2036662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16</TotalTime>
  <Words>114</Words>
  <Application>Microsoft Office PowerPoint</Application>
  <PresentationFormat>Widescreen</PresentationFormat>
  <Paragraphs>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ANAND</dc:creator>
  <cp:lastModifiedBy>AKASH ANAND</cp:lastModifiedBy>
  <cp:revision>462</cp:revision>
  <dcterms:created xsi:type="dcterms:W3CDTF">2026-03-18T08:54:02Z</dcterms:created>
  <dcterms:modified xsi:type="dcterms:W3CDTF">2026-03-18T11:19:52Z</dcterms:modified>
</cp:coreProperties>
</file>